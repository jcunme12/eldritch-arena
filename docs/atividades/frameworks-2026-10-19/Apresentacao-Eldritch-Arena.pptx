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c8d0a05844f8c" /><Relationship Type="http://schemas.openxmlformats.org/officeDocument/2006/relationships/extended-properties" Target="/docProps/app.xml" Id="Rf3a9ca356a364636" /><Relationship Type="http://schemas.openxmlformats.org/officeDocument/2006/relationships/officeDocument" Target="/ppt/presentation.xml" Id="R317a953ec48e47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ee75e438f481c"/>
  </p:sldMasterIdLst>
  <p:notesMasterIdLst>
    <p:notesMasterId xmlns:r="http://schemas.openxmlformats.org/officeDocument/2006/relationships" r:id="Ra2c164e214e042db"/>
  </p:notesMasterIdLst>
  <p:sldIdLst>
    <p:sldId xmlns:r="http://schemas.openxmlformats.org/officeDocument/2006/relationships" id="256" r:id="R28af349459d14767"/>
    <p:sldId xmlns:r="http://schemas.openxmlformats.org/officeDocument/2006/relationships" id="257" r:id="R0902600580ca4ad6"/>
    <p:sldId xmlns:r="http://schemas.openxmlformats.org/officeDocument/2006/relationships" id="258" r:id="R76c01239204541f4"/>
    <p:sldId xmlns:r="http://schemas.openxmlformats.org/officeDocument/2006/relationships" id="259" r:id="Rb2a0e2acc5af420c"/>
    <p:sldId xmlns:r="http://schemas.openxmlformats.org/officeDocument/2006/relationships" id="260" r:id="R36d34342630a4994"/>
    <p:sldId xmlns:r="http://schemas.openxmlformats.org/officeDocument/2006/relationships" id="261" r:id="R2b63eda7259840b4"/>
    <p:sldId xmlns:r="http://schemas.openxmlformats.org/officeDocument/2006/relationships" id="262" r:id="R1ef08eecf9464385"/>
    <p:sldId xmlns:r="http://schemas.openxmlformats.org/officeDocument/2006/relationships" id="263" r:id="R50f59c783682462d"/>
    <p:sldId xmlns:r="http://schemas.openxmlformats.org/officeDocument/2006/relationships" id="264" r:id="R61513c6a1d8345b7"/>
    <p:sldId xmlns:r="http://schemas.openxmlformats.org/officeDocument/2006/relationships" id="265" r:id="Rb56cbcde3a1349ca"/>
    <p:sldId xmlns:r="http://schemas.openxmlformats.org/officeDocument/2006/relationships" id="266" r:id="R2241dc60ed7c4797"/>
    <p:sldId xmlns:r="http://schemas.openxmlformats.org/officeDocument/2006/relationships" id="267" r:id="Rf7b26430a9ef40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52e95590f44597" /><Relationship Type="http://schemas.openxmlformats.org/officeDocument/2006/relationships/slideMaster" Target="/ppt/slideMasters/slideMaster1.xml" Id="R356ee75e438f481c" /><Relationship Type="http://schemas.openxmlformats.org/officeDocument/2006/relationships/notesMaster" Target="/ppt/notesMasters/notesMaster1.xml" Id="Ra2c164e214e042db" /><Relationship Type="http://schemas.openxmlformats.org/officeDocument/2006/relationships/presProps" Target="/ppt/presProps.xml" Id="R96bf249371a84afd" /><Relationship Type="http://schemas.openxmlformats.org/officeDocument/2006/relationships/tableStyles" Target="/ppt/tableStyles.xml" Id="Rdbc048b45d054d6a" /><Relationship Type="http://schemas.openxmlformats.org/officeDocument/2006/relationships/slide" Target="/ppt/slides/slide1.xml" Id="R28af349459d14767" /><Relationship Type="http://schemas.openxmlformats.org/officeDocument/2006/relationships/slide" Target="/ppt/slides/slide2.xml" Id="R0902600580ca4ad6" /><Relationship Type="http://schemas.openxmlformats.org/officeDocument/2006/relationships/slide" Target="/ppt/slides/slide3.xml" Id="R76c01239204541f4" /><Relationship Type="http://schemas.openxmlformats.org/officeDocument/2006/relationships/slide" Target="/ppt/slides/slide4.xml" Id="Rb2a0e2acc5af420c" /><Relationship Type="http://schemas.openxmlformats.org/officeDocument/2006/relationships/slide" Target="/ppt/slides/slide5.xml" Id="R36d34342630a4994" /><Relationship Type="http://schemas.openxmlformats.org/officeDocument/2006/relationships/slide" Target="/ppt/slides/slide6.xml" Id="R2b63eda7259840b4" /><Relationship Type="http://schemas.openxmlformats.org/officeDocument/2006/relationships/slide" Target="/ppt/slides/slide7.xml" Id="R1ef08eecf9464385" /><Relationship Type="http://schemas.openxmlformats.org/officeDocument/2006/relationships/slide" Target="/ppt/slides/slide8.xml" Id="R50f59c783682462d" /><Relationship Type="http://schemas.openxmlformats.org/officeDocument/2006/relationships/slide" Target="/ppt/slides/slide9.xml" Id="R61513c6a1d8345b7" /><Relationship Type="http://schemas.openxmlformats.org/officeDocument/2006/relationships/slide" Target="/ppt/slides/slide10.xml" Id="Rb56cbcde3a1349ca" /><Relationship Type="http://schemas.openxmlformats.org/officeDocument/2006/relationships/slide" Target="/ppt/slides/slide11.xml" Id="R2241dc60ed7c4797" /><Relationship Type="http://schemas.openxmlformats.org/officeDocument/2006/relationships/slide" Target="/ppt/slides/slide12.xml" Id="Rf7b26430a9ef40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9fd56ea26e4f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f2b33261a4d32" /><Relationship Type="http://schemas.openxmlformats.org/officeDocument/2006/relationships/notesMaster" Target="/ppt/notesMasters/notesMaster1.xml" Id="R7f84b97be351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f579128cad4a3a" /><Relationship Type="http://schemas.openxmlformats.org/officeDocument/2006/relationships/notesMaster" Target="/ppt/notesMasters/notesMaster1.xml" Id="Ra7c06bff64144f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0e13b8ecf46d4" /><Relationship Type="http://schemas.openxmlformats.org/officeDocument/2006/relationships/notesMaster" Target="/ppt/notesMasters/notesMaster1.xml" Id="Rb9347f45ba90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1b10ab8e554560" /><Relationship Type="http://schemas.openxmlformats.org/officeDocument/2006/relationships/notesMaster" Target="/ppt/notesMasters/notesMaster1.xml" Id="Rb0e94b4d886646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ae339f37274484" /><Relationship Type="http://schemas.openxmlformats.org/officeDocument/2006/relationships/notesMaster" Target="/ppt/notesMasters/notesMaster1.xml" Id="R6ed381121a804a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817c06741944c0" /><Relationship Type="http://schemas.openxmlformats.org/officeDocument/2006/relationships/notesMaster" Target="/ppt/notesMasters/notesMaster1.xml" Id="R4bca5945e95949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835bab66f94bf5" /><Relationship Type="http://schemas.openxmlformats.org/officeDocument/2006/relationships/notesMaster" Target="/ppt/notesMasters/notesMaster1.xml" Id="Rd874a4048ae3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fb31a68b6947ce" /><Relationship Type="http://schemas.openxmlformats.org/officeDocument/2006/relationships/notesMaster" Target="/ppt/notesMasters/notesMaster1.xml" Id="R0f95b7490a1c4d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fddefd35604d5c" /><Relationship Type="http://schemas.openxmlformats.org/officeDocument/2006/relationships/notesMaster" Target="/ppt/notesMasters/notesMaster1.xml" Id="R704e1030c8234a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552377a514493a" /><Relationship Type="http://schemas.openxmlformats.org/officeDocument/2006/relationships/notesMaster" Target="/ppt/notesMasters/notesMaster1.xml" Id="R0377495042a84e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ea1ada07614d13" /><Relationship Type="http://schemas.openxmlformats.org/officeDocument/2006/relationships/notesMaster" Target="/ppt/notesMasters/notesMaster1.xml" Id="R9647020a24e242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fb7d08a3494971" /><Relationship Type="http://schemas.openxmlformats.org/officeDocument/2006/relationships/notesMaster" Target="/ppt/notesMasters/notesMaster1.xml" Id="Re0f7f5ea0ab2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Atividade baseada no material Aplicação Prática de Frameworks, slides 5, 18 e 19. O projeto já está em desenvolvimento. Esta apresentação organiza seu planejamento, sem afirmar que os protótipos antecederam a implementação. Trabalho individual sujeito à adequação combinada com o professor.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 de projeto proposto a partir do contexto do Eldritch Arena. Não houve pesquisa de campo apresentada ou medição de perda financeira. Não atribuir resultados a entrevistas inexistentes.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Critério concreto: produto começa com 5 unidades, saída de 2 resulta em 3; uma saída de 4 deve ser recusada. Cadastro e histórico devem ficar restritos ao dono da loja.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Prioridade alta: RF01, RF02, RF06, RF07. Média: RF03, RF04, RF05, RF08. A ficha detalha critérios de aceitação e limites. Fontes: routes/web.php, StoreController, InventoryService e documentação do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RNF03: conferir larguras de 390 e 1366 px. RNF04: meta de 95% das consultas em até 2 s, com 10 usuários simultâneos e mil produtos por loja; ainda não medida. RNF05: MVC, migrations, Git e testes dos fluxos críticos. RNF06: backup antes de publicação e ensaio de restauração em ambiente isolado; o ensaio ainda é meta, não resultado comprovado.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Escolha coerente com a base existente em PHP e com o trabalho individual. Reduz a necessidade de montar infraestrutura de aplicação do zero. Regras específicas como isolamento da loja e bloqueio de estoque negativo continuam sendo responsabilidade do projeto. Fonte: composer.json, StoreController.php e InventoryService.php.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Fluxo real: View store/form.blade.php envia POST /loja/produtos. StoreController valida os dados, verifica a loja e cria InventoryItem. Saldo inicial utiliza InventoryService e StockMovement em transação. O controller redireciona para a tela de detalhes. O serviço complementa o MVC e concentra operações de domínio.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Wireframe baseado em resources/views/auth/login.blade.php. Campos obrigatórios: e-mail e senha. Entrar valida as credenciais e abre o dashboard. Cadastrar abre o registro. Em erro, mensagem visível sem revelar a senha. Reconstrução didática de uma tela existente, não captura de tela.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Wireframe baseado em resources/views/store/index.blade.php. Campos e ações: busca por nome/SKU, filtros de saldo baixo/zero/arquivados, cadastrar produto, abrir item e consultar histórico. Menu com acesso aos demais módulos. Números e produto são exemplos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Wireframe baseado em resources/views/store/form.blade.php. Campos adicionais no formulário real: edição, raridade, condição, imagem e descrição. SKU único por loja. Salvar cria produto privado e registra saldo inicial. Voltar retorna ao estoque. Erros de validação preservam dados válidos.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Casos baseados em tests/Feature/StoreInventoryTest.php e InventoryService.php. Usar dados demonstrativos em ambiente isolado para apresentação. Não alterar estoque real para simular venda.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Conclusão do planejamento. A implementação atual já cobre os fluxos descritos, mas metas de desempenho e recuperação devem ser medidas. Repositório: https://github.com/JCUNME12/eldritch-arena/tree/feature/arena-professional. Material da disciplina: Aplicação Prática de Frameworks, Prof. Bruno Rezende, UNINORTE, slides 5 e 18–19.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e2f8cb1a04e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07ee3727d48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b0531a5874f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26453c15849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4e0be702e43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d74fb9c794a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984723-DFCE-45EE-B838-620FCD2D0B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7923B3-54DB-4C7A-B0E7-CAF8152B6B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8D24C0-F2C3-449E-BD38-15CA48392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1DD5F2-A2E3-43FB-A9CC-D44ED0A50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B15626-DFE1-47D6-9EAC-2AD9AD1696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0DAE3A-2952-4907-95A0-A59B38566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EF5DFF-56B3-45A7-9872-00E56B76E0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22DE7A-F2F9-4A4E-A2F9-6BF1EFFCF9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19E9A5-5807-4014-A0E0-580E728A7F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00C743-11AC-4447-8F3C-15F8FD39E8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71e791d504eab" /><Relationship Type="http://schemas.openxmlformats.org/officeDocument/2006/relationships/slideLayout" Target="/ppt/slideLayouts/slideLayout1.xml" Id="R8bbee5aa41804603" /><Relationship Type="http://schemas.openxmlformats.org/officeDocument/2006/relationships/slideLayout" Target="/ppt/slideLayouts/slideLayout2.xml" Id="R3f58dfaf3fdd466a" /><Relationship Type="http://schemas.openxmlformats.org/officeDocument/2006/relationships/slideLayout" Target="/ppt/slideLayouts/slideLayout3.xml" Id="R139c1691d1bc4194" /><Relationship Type="http://schemas.openxmlformats.org/officeDocument/2006/relationships/slideLayout" Target="/ppt/slideLayouts/slideLayout4.xml" Id="R7123d2356ef94646" /><Relationship Type="http://schemas.openxmlformats.org/officeDocument/2006/relationships/slideLayout" Target="/ppt/slideLayouts/slideLayout5.xml" Id="Rcbf1d7841dc5437a" /><Relationship Type="http://schemas.openxmlformats.org/officeDocument/2006/relationships/slideLayout" Target="/ppt/slideLayouts/slideLayout6.xml" Id="R6e22839fa6cd46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bee5aa41804603"/>
    <p:sldLayoutId xmlns:r="http://schemas.openxmlformats.org/officeDocument/2006/relationships" id="2147483650" r:id="R3f58dfaf3fdd466a"/>
    <p:sldLayoutId xmlns:r="http://schemas.openxmlformats.org/officeDocument/2006/relationships" id="2147483651" r:id="R139c1691d1bc4194"/>
    <p:sldLayoutId xmlns:r="http://schemas.openxmlformats.org/officeDocument/2006/relationships" id="2147483652" r:id="R7123d2356ef94646"/>
    <p:sldLayoutId xmlns:r="http://schemas.openxmlformats.org/officeDocument/2006/relationships" id="2147483653" r:id="Rcbf1d7841dc5437a"/>
    <p:sldLayoutId xmlns:r="http://schemas.openxmlformats.org/officeDocument/2006/relationships" id="2147483654" r:id="R6e22839fa6cd46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7cd6a87644bc6" /><Relationship Type="http://schemas.openxmlformats.org/officeDocument/2006/relationships/notesSlide" Target="/ppt/notesSlides/notesSlide1.xml" Id="R4679166928a3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d2a8cfa2347fe" /><Relationship Type="http://schemas.openxmlformats.org/officeDocument/2006/relationships/notesSlide" Target="/ppt/notesSlides/notesSlide2.xml" Id="R2334c937bae742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0e441c00884477" /><Relationship Type="http://schemas.openxmlformats.org/officeDocument/2006/relationships/notesSlide" Target="/ppt/notesSlides/notesSlide3.xml" Id="R6b82ec40519f4a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c4394ab62443d" /><Relationship Type="http://schemas.openxmlformats.org/officeDocument/2006/relationships/notesSlide" Target="/ppt/notesSlides/notesSlide4.xml" Id="R18cdb55803ae4b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ba1a85ddf44c89" /><Relationship Type="http://schemas.openxmlformats.org/officeDocument/2006/relationships/notesSlide" Target="/ppt/notesSlides/notesSlide5.xml" Id="Rdc8aef8e2fe340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22cfc67994753" /><Relationship Type="http://schemas.openxmlformats.org/officeDocument/2006/relationships/notesSlide" Target="/ppt/notesSlides/notesSlide6.xml" Id="R6b272b86db184b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38e3fc3994b42" /><Relationship Type="http://schemas.openxmlformats.org/officeDocument/2006/relationships/notesSlide" Target="/ppt/notesSlides/notesSlide7.xml" Id="R85c39bb034ee4b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6661d1abc4537" /><Relationship Type="http://schemas.openxmlformats.org/officeDocument/2006/relationships/notesSlide" Target="/ppt/notesSlides/notesSlide8.xml" Id="R3f21a16c62d341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6c843b85d4ee3" /><Relationship Type="http://schemas.openxmlformats.org/officeDocument/2006/relationships/notesSlide" Target="/ppt/notesSlides/notesSlide9.xml" Id="R702936bf7dca41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3616bbd3a4b8b" /><Relationship Type="http://schemas.openxmlformats.org/officeDocument/2006/relationships/notesSlide" Target="/ppt/notesSlides/notesSlide10.xml" Id="R657b5c69b47842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fc57a0f8a42fe" /><Relationship Type="http://schemas.openxmlformats.org/officeDocument/2006/relationships/notesSlide" Target="/ppt/notesSlides/notesSlide11.xml" Id="R8f32de15706846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0cf33b9c094335" /><Relationship Type="http://schemas.openxmlformats.org/officeDocument/2006/relationships/notesSlide" Target="/ppt/notesSlides/notesSlide12.xml" Id="R718bf58b1c524e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7359E-11AC-449E-863F-1576105F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14425"/>
            <a:ext cx="1015365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E6C46A"/>
                </a:solidFill>
              </a:defRPr>
            </a:defPPr>
            <a:lvl1pPr>
              <a:defRPr sz="4500" b="1">
                <a:solidFill>
                  <a:srgbClr val="E6C46A"/>
                </a:solidFill>
              </a:defRPr>
            </a:lvl1pPr>
            <a:lvl2pPr>
              <a:defRPr sz="4500" b="1">
                <a:solidFill>
                  <a:srgbClr val="E6C46A"/>
                </a:solidFill>
              </a:defRPr>
            </a:lvl2pPr>
            <a:lvl3pPr>
              <a:defRPr sz="4500" b="1">
                <a:solidFill>
                  <a:srgbClr val="E6C46A"/>
                </a:solidFill>
              </a:defRPr>
            </a:lvl3pPr>
            <a:lvl4pPr>
              <a:defRPr sz="4500" b="1">
                <a:solidFill>
                  <a:srgbClr val="E6C46A"/>
                </a:solidFill>
              </a:defRPr>
            </a:lvl4pPr>
            <a:lvl5pPr>
              <a:defRPr sz="4500" b="1">
                <a:solidFill>
                  <a:srgbClr val="E6C46A"/>
                </a:solidFill>
              </a:defRPr>
            </a:lvl5pPr>
            <a:lvl6pPr>
              <a:defRPr sz="4500" b="1">
                <a:solidFill>
                  <a:srgbClr val="E6C46A"/>
                </a:solidFill>
              </a:defRPr>
            </a:lvl6pPr>
            <a:lvl7pPr>
              <a:defRPr sz="4500" b="1">
                <a:solidFill>
                  <a:srgbClr val="E6C46A"/>
                </a:solidFill>
              </a:defRPr>
            </a:lvl7pPr>
            <a:lvl8pPr>
              <a:defRPr sz="4500" b="1">
                <a:solidFill>
                  <a:srgbClr val="E6C46A"/>
                </a:solidFill>
              </a:defRPr>
            </a:lvl8pPr>
            <a:lvl9pPr>
              <a:defRPr sz="45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E6C46A"/>
                </a:solidFill>
              </a:defRPr>
            </a:pPr>
            <a:r>
              <a:rPr sz="4500" b="1">
                <a:solidFill>
                  <a:srgbClr val="E6C46A"/>
                </a:solidFill>
              </a:rPr>
              <a:t>Eldritch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D47BE-FCBF-4EB0-AFDC-1B00587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01536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3F5F7"/>
                </a:solidFill>
              </a:defRPr>
            </a:defPPr>
            <a:lvl1pPr>
              <a:defRPr sz="1875">
                <a:solidFill>
                  <a:srgbClr val="F3F5F7"/>
                </a:solidFill>
              </a:defRPr>
            </a:lvl1pPr>
            <a:lvl2pPr>
              <a:defRPr sz="1875">
                <a:solidFill>
                  <a:srgbClr val="F3F5F7"/>
                </a:solidFill>
              </a:defRPr>
            </a:lvl2pPr>
            <a:lvl3pPr>
              <a:defRPr sz="1875">
                <a:solidFill>
                  <a:srgbClr val="F3F5F7"/>
                </a:solidFill>
              </a:defRPr>
            </a:lvl3pPr>
            <a:lvl4pPr>
              <a:defRPr sz="1875">
                <a:solidFill>
                  <a:srgbClr val="F3F5F7"/>
                </a:solidFill>
              </a:defRPr>
            </a:lvl4pPr>
            <a:lvl5pPr>
              <a:defRPr sz="1875">
                <a:solidFill>
                  <a:srgbClr val="F3F5F7"/>
                </a:solidFill>
              </a:defRPr>
            </a:lvl5pPr>
            <a:lvl6pPr>
              <a:defRPr sz="1875">
                <a:solidFill>
                  <a:srgbClr val="F3F5F7"/>
                </a:solidFill>
              </a:defRPr>
            </a:lvl6pPr>
            <a:lvl7pPr>
              <a:defRPr sz="1875">
                <a:solidFill>
                  <a:srgbClr val="F3F5F7"/>
                </a:solidFill>
              </a:defRPr>
            </a:lvl7pPr>
            <a:lvl8pPr>
              <a:defRPr sz="1875">
                <a:solidFill>
                  <a:srgbClr val="F3F5F7"/>
                </a:solidFill>
              </a:defRPr>
            </a:lvl8pPr>
            <a:lvl9pPr>
              <a:defRPr sz="1875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F3F5F7"/>
                </a:solidFill>
              </a:defRPr>
            </a:pPr>
            <a:r>
              <a:rPr sz="1875">
                <a:solidFill>
                  <a:srgbClr val="F3F5F7"/>
                </a:solidFill>
              </a:rPr>
              <a:t>Aplicação prática de frameworks</a:t>
            </a:r>
          </a:p>
          <a:p xmlns:a="http://schemas.openxmlformats.org/drawingml/2006/main">
            <a:pPr>
              <a:defRPr sz="1875">
                <a:solidFill>
                  <a:srgbClr val="F3F5F7"/>
                </a:solidFill>
              </a:defRPr>
            </a:pPr>
            <a:r>
              <a:rPr sz="1875">
                <a:solidFill>
                  <a:srgbClr val="F3F5F7"/>
                </a:solidFill>
              </a:rPr>
              <a:t>Planejamento de uma plataforma para card games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F3F5F7"/>
                </a:solidFill>
              </a:defRPr>
            </a:pPr>
            <a:r>
              <a:rPr sz="1875">
                <a:solidFill>
                  <a:srgbClr val="F3F5F7"/>
                </a:solidFill>
              </a:rPr>
              <a:t>João Carlos Campos</a:t>
            </a:r>
          </a:p>
          <a:p xmlns:a="http://schemas.openxmlformats.org/drawingml/2006/main">
            <a:pPr>
              <a:defRPr sz="1875">
                <a:solidFill>
                  <a:srgbClr val="F3F5F7"/>
                </a:solidFill>
              </a:defRPr>
            </a:pPr>
            <a:r>
              <a:rPr sz="1875">
                <a:solidFill>
                  <a:srgbClr val="F3F5F7"/>
                </a:solidFill>
              </a:rPr>
              <a:t>UNINORTE • Sistemas de Informação</a:t>
            </a:r>
          </a:p>
          <a:p xmlns:a="http://schemas.openxmlformats.org/drawingml/2006/main">
            <a:pPr>
              <a:defRPr sz="1875">
                <a:solidFill>
                  <a:srgbClr val="F3F5F7"/>
                </a:solidFill>
              </a:defRPr>
            </a:pPr>
            <a:r>
              <a:rPr sz="1875">
                <a:solidFill>
                  <a:srgbClr val="F3F5F7"/>
                </a:solidFill>
              </a:rPr>
              <a:t>Padrões de Projeto e Frameworks • Prof. Bruno Rezende</a:t>
            </a:r>
          </a:p>
        </p:txBody>
      </p:sp>
    </p:spTree>
    <p:extLst>
      <p:ext uri="{BB962C8B-B14F-4D97-AF65-F5344CB8AC3E}">
        <p14:creationId xmlns:p14="http://schemas.microsoft.com/office/powerpoint/2010/main" val="976730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64451-A6B7-47F5-A6F1-DE5A76E0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Problema e público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88F00-1586-44BC-B574-BFE2DA2E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Jogadores precisam encontrar eventos e parceiros de jogo.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Lojistas precisam acompanhar cartas, saldos e anúncios sem perder o histórico de movimentações.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Público: jogadores, lojistas e organizadores de card games.</a:t>
            </a:r>
          </a:p>
        </p:txBody>
      </p:sp>
    </p:spTree>
    <p:extLst>
      <p:ext uri="{BB962C8B-B14F-4D97-AF65-F5344CB8AC3E}">
        <p14:creationId xmlns:p14="http://schemas.microsoft.com/office/powerpoint/2010/main" val="777401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4858C-0C40-4936-8DCF-E9CBF41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Objetivo e escopo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2F472-A8DB-4E66-B137-AB4EA722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Centralizar eventos, comunidade e ferramentas de mesa, com estoque rastreável para as lojas.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Entrega principal: cadastrar uma carta, registrar entradas e saídas e consultar o saldo com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Fora desta etapa: checkout, pagamentos, entrega e baixa automática por venda.</a:t>
            </a:r>
          </a:p>
        </p:txBody>
      </p:sp>
    </p:spTree>
    <p:extLst>
      <p:ext uri="{BB962C8B-B14F-4D97-AF65-F5344CB8AC3E}">
        <p14:creationId xmlns:p14="http://schemas.microsoft.com/office/powerpoint/2010/main" val="300053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4BDB9-1F89-4CA0-B6C1-E5F283AC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Requisitos funcionais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AA77B-2D60-417A-B024-44A4174B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RF01  Cadastrar usuários e autenticar o acesso.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RF02  Criar torneios e controlar inscrições e vagas.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RF03  Publicar e consultar anúncios de cartas.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RF04  Criar tópicos, comentários e reações.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RF05  Configurar mesas, vida, marcadores e sorteios.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RF06  Cadastrar cartas por SKU, custo e preço.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RF07  Registrar movimentos, saldo e estoque mínimo.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RF08  Consultar contas e indicadores como admin.</a:t>
            </a:r>
          </a:p>
        </p:txBody>
      </p:sp>
    </p:spTree>
    <p:extLst>
      <p:ext uri="{BB962C8B-B14F-4D97-AF65-F5344CB8AC3E}">
        <p14:creationId xmlns:p14="http://schemas.microsoft.com/office/powerpoint/2010/main" val="790766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1189F-584F-4A30-82AD-5EC88CEF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Requisitos não funcionais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7F2FA-0A61-4B47-BAA8-6024BFE2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3F5F7"/>
                </a:solidFill>
              </a:defRPr>
            </a:defPPr>
            <a:lvl1pPr>
              <a:defRPr sz="2100" b="0">
                <a:solidFill>
                  <a:srgbClr val="F3F5F7"/>
                </a:solidFill>
              </a:defRPr>
            </a:lvl1pPr>
            <a:lvl2pPr>
              <a:defRPr sz="2100" b="0">
                <a:solidFill>
                  <a:srgbClr val="F3F5F7"/>
                </a:solidFill>
              </a:defRPr>
            </a:lvl2pPr>
            <a:lvl3pPr>
              <a:defRPr sz="2100" b="0">
                <a:solidFill>
                  <a:srgbClr val="F3F5F7"/>
                </a:solidFill>
              </a:defRPr>
            </a:lvl3pPr>
            <a:lvl4pPr>
              <a:defRPr sz="2100" b="0">
                <a:solidFill>
                  <a:srgbClr val="F3F5F7"/>
                </a:solidFill>
              </a:defRPr>
            </a:lvl4pPr>
            <a:lvl5pPr>
              <a:defRPr sz="2100" b="0">
                <a:solidFill>
                  <a:srgbClr val="F3F5F7"/>
                </a:solidFill>
              </a:defRPr>
            </a:lvl5pPr>
            <a:lvl6pPr>
              <a:defRPr sz="2100" b="0">
                <a:solidFill>
                  <a:srgbClr val="F3F5F7"/>
                </a:solidFill>
              </a:defRPr>
            </a:lvl6pPr>
            <a:lvl7pPr>
              <a:defRPr sz="2100" b="0">
                <a:solidFill>
                  <a:srgbClr val="F3F5F7"/>
                </a:solidFill>
              </a:defRPr>
            </a:lvl7pPr>
            <a:lvl8pPr>
              <a:defRPr sz="2100" b="0">
                <a:solidFill>
                  <a:srgbClr val="F3F5F7"/>
                </a:solidFill>
              </a:defRPr>
            </a:lvl8pPr>
            <a:lvl9pPr>
              <a:defRPr sz="210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5F7"/>
                </a:solidFill>
              </a:defRPr>
            </a:pPr>
            <a:r>
              <a:rPr sz="2100" b="0">
                <a:solidFill>
                  <a:srgbClr val="F3F5F7"/>
                </a:solidFill>
              </a:rPr>
              <a:t>RNF01  Segurança: sessão, hash de senha e autorização.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3F5F7"/>
                </a:solidFill>
              </a:defRPr>
            </a:pPr>
            <a:r>
              <a:rPr sz="2100" b="0">
                <a:solidFill>
                  <a:srgbClr val="F3F5F7"/>
                </a:solidFill>
              </a:rPr>
              <a:t>RNF02  Integridade: transações, saldo válido e sem duplicidade.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3F5F7"/>
                </a:solidFill>
              </a:defRPr>
            </a:pPr>
            <a:r>
              <a:rPr sz="2100" b="0">
                <a:solidFill>
                  <a:srgbClr val="F3F5F7"/>
                </a:solidFill>
              </a:rPr>
              <a:t>RNF03  Usabilidade: validar celular e computador.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3F5F7"/>
                </a:solidFill>
              </a:defRPr>
            </a:pPr>
            <a:r>
              <a:rPr sz="2100" b="0">
                <a:solidFill>
                  <a:srgbClr val="F3F5F7"/>
                </a:solidFill>
              </a:rPr>
              <a:t>RNF04  Desempenho: meta de 95% das consultas em até 2 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/>
            </a:r>
          </a:p>
          <a:p xmlns:a="http://schemas.openxmlformats.org/drawingml/2006/main">
            <a:pPr>
              <a:defRPr sz="2100" b="0">
                <a:solidFill>
                  <a:srgbClr val="F3F5F7"/>
                </a:solidFill>
              </a:defRPr>
            </a:pPr>
            <a:r>
              <a:rPr sz="2100" b="0">
                <a:solidFill>
                  <a:srgbClr val="F3F5F7"/>
                </a:solidFill>
              </a:rPr>
              <a:t>RNF05  Manutenção: MVC, migrations e testes dos fluxos críticos.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/>
            </a:r>
          </a:p>
          <a:p xmlns:a="http://schemas.openxmlformats.org/drawingml/2006/main">
            <a:pPr>
              <a:defRPr sz="2100" b="0">
                <a:solidFill>
                  <a:srgbClr val="F3F5F7"/>
                </a:solidFill>
              </a:defRPr>
            </a:pPr>
            <a:r>
              <a:rPr sz="2100" b="0">
                <a:solidFill>
                  <a:srgbClr val="F3F5F7"/>
                </a:solidFill>
              </a:rPr>
              <a:t>RNF06  Recuperação: backup e ensaio de restauração.</a:t>
            </a:r>
          </a:p>
        </p:txBody>
      </p:sp>
    </p:spTree>
    <p:extLst>
      <p:ext uri="{BB962C8B-B14F-4D97-AF65-F5344CB8AC3E}">
        <p14:creationId xmlns:p14="http://schemas.microsoft.com/office/powerpoint/2010/main" val="2112819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A31BB-0179-4B4F-BDD7-0FEFE0B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Framework escolhido: Laravel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C2358-9A48-4068-8982-1FF0DC22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Laravel 13, com PHP 8.4 e PostgreSQL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Rotas e middleware organizam o acesso às páginas.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Eloquent representa entidades e relacionamentos.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Migrations versionam a estrutura do banco.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Blade apresenta formulários e mensagens.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Validação e transações apoiam as regras do estoque.</a:t>
            </a:r>
          </a:p>
        </p:txBody>
      </p:sp>
    </p:spTree>
    <p:extLst>
      <p:ext uri="{BB962C8B-B14F-4D97-AF65-F5344CB8AC3E}">
        <p14:creationId xmlns:p14="http://schemas.microsoft.com/office/powerpoint/2010/main" val="1994706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CF70D-4915-4A2A-9DC7-63A08C4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Arquitetura MVC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83720-CD32-4D26-8362-1E07F112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3F5F7"/>
                </a:solidFill>
              </a:defRPr>
            </a:defPPr>
            <a:lvl1pPr>
              <a:defRPr sz="1875" b="0">
                <a:solidFill>
                  <a:srgbClr val="F3F5F7"/>
                </a:solidFill>
              </a:defRPr>
            </a:lvl1pPr>
            <a:lvl2pPr>
              <a:defRPr sz="1875" b="0">
                <a:solidFill>
                  <a:srgbClr val="F3F5F7"/>
                </a:solidFill>
              </a:defRPr>
            </a:lvl2pPr>
            <a:lvl3pPr>
              <a:defRPr sz="1875" b="0">
                <a:solidFill>
                  <a:srgbClr val="F3F5F7"/>
                </a:solidFill>
              </a:defRPr>
            </a:lvl3pPr>
            <a:lvl4pPr>
              <a:defRPr sz="1875" b="0">
                <a:solidFill>
                  <a:srgbClr val="F3F5F7"/>
                </a:solidFill>
              </a:defRPr>
            </a:lvl4pPr>
            <a:lvl5pPr>
              <a:defRPr sz="1875" b="0">
                <a:solidFill>
                  <a:srgbClr val="F3F5F7"/>
                </a:solidFill>
              </a:defRPr>
            </a:lvl5pPr>
            <a:lvl6pPr>
              <a:defRPr sz="1875" b="0">
                <a:solidFill>
                  <a:srgbClr val="F3F5F7"/>
                </a:solidFill>
              </a:defRPr>
            </a:lvl6pPr>
            <a:lvl7pPr>
              <a:defRPr sz="1875" b="0">
                <a:solidFill>
                  <a:srgbClr val="F3F5F7"/>
                </a:solidFill>
              </a:defRPr>
            </a:lvl7pPr>
            <a:lvl8pPr>
              <a:defRPr sz="1875" b="0">
                <a:solidFill>
                  <a:srgbClr val="F3F5F7"/>
                </a:solidFill>
              </a:defRPr>
            </a:lvl8pPr>
            <a:lvl9pPr>
              <a:defRPr sz="1875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18391-AE31-4410-A8CC-0E462D71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1981200"/>
            <a:ext cx="3033713" cy="1300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3E"/>
          </a:solidFill>
          <a:ln xmlns:a="http://schemas.openxmlformats.org/drawingml/2006/main" w="9525">
            <a:solidFill>
              <a:srgbClr val="A5B1B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36F54-55DB-4C18-A067-3A257212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3" y="2166938"/>
            <a:ext cx="2736533" cy="105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3F5F7"/>
                </a:solidFill>
              </a:defRPr>
            </a:defPPr>
            <a:lvl1pPr>
              <a:defRPr sz="1650" b="0">
                <a:solidFill>
                  <a:srgbClr val="F3F5F7"/>
                </a:solidFill>
              </a:defRPr>
            </a:lvl1pPr>
            <a:lvl2pPr>
              <a:defRPr sz="1650" b="0">
                <a:solidFill>
                  <a:srgbClr val="F3F5F7"/>
                </a:solidFill>
              </a:defRPr>
            </a:lvl2pPr>
            <a:lvl3pPr>
              <a:defRPr sz="1650" b="0">
                <a:solidFill>
                  <a:srgbClr val="F3F5F7"/>
                </a:solidFill>
              </a:defRPr>
            </a:lvl3pPr>
            <a:lvl4pPr>
              <a:defRPr sz="1650" b="0">
                <a:solidFill>
                  <a:srgbClr val="F3F5F7"/>
                </a:solidFill>
              </a:defRPr>
            </a:lvl4pPr>
            <a:lvl5pPr>
              <a:defRPr sz="1650" b="0">
                <a:solidFill>
                  <a:srgbClr val="F3F5F7"/>
                </a:solidFill>
              </a:defRPr>
            </a:lvl5pPr>
            <a:lvl6pPr>
              <a:defRPr sz="1650" b="0">
                <a:solidFill>
                  <a:srgbClr val="F3F5F7"/>
                </a:solidFill>
              </a:defRPr>
            </a:lvl6pPr>
            <a:lvl7pPr>
              <a:defRPr sz="1650" b="0">
                <a:solidFill>
                  <a:srgbClr val="F3F5F7"/>
                </a:solidFill>
              </a:defRPr>
            </a:lvl7pPr>
            <a:lvl8pPr>
              <a:defRPr sz="1650" b="0">
                <a:solidFill>
                  <a:srgbClr val="F3F5F7"/>
                </a:solidFill>
              </a:defRPr>
            </a:lvl8pPr>
            <a:lvl9pPr>
              <a:defRPr sz="16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VIEW</a:t>
            </a:r>
          </a:p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Formulário Blade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8E77F-90AB-403D-80BB-A9050AA3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88" y="1981200"/>
            <a:ext cx="3095625" cy="1300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3E"/>
          </a:solidFill>
          <a:ln xmlns:a="http://schemas.openxmlformats.org/drawingml/2006/main" w="9525">
            <a:solidFill>
              <a:srgbClr val="A5B1B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2D8F0-E0C8-4FF4-8698-7EDAF684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378" y="2166938"/>
            <a:ext cx="2798445" cy="105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3F5F7"/>
                </a:solidFill>
              </a:defRPr>
            </a:defPPr>
            <a:lvl1pPr>
              <a:defRPr sz="1650" b="0">
                <a:solidFill>
                  <a:srgbClr val="F3F5F7"/>
                </a:solidFill>
              </a:defRPr>
            </a:lvl1pPr>
            <a:lvl2pPr>
              <a:defRPr sz="1650" b="0">
                <a:solidFill>
                  <a:srgbClr val="F3F5F7"/>
                </a:solidFill>
              </a:defRPr>
            </a:lvl2pPr>
            <a:lvl3pPr>
              <a:defRPr sz="1650" b="0">
                <a:solidFill>
                  <a:srgbClr val="F3F5F7"/>
                </a:solidFill>
              </a:defRPr>
            </a:lvl3pPr>
            <a:lvl4pPr>
              <a:defRPr sz="1650" b="0">
                <a:solidFill>
                  <a:srgbClr val="F3F5F7"/>
                </a:solidFill>
              </a:defRPr>
            </a:lvl4pPr>
            <a:lvl5pPr>
              <a:defRPr sz="1650" b="0">
                <a:solidFill>
                  <a:srgbClr val="F3F5F7"/>
                </a:solidFill>
              </a:defRPr>
            </a:lvl5pPr>
            <a:lvl6pPr>
              <a:defRPr sz="1650" b="0">
                <a:solidFill>
                  <a:srgbClr val="F3F5F7"/>
                </a:solidFill>
              </a:defRPr>
            </a:lvl6pPr>
            <a:lvl7pPr>
              <a:defRPr sz="1650" b="0">
                <a:solidFill>
                  <a:srgbClr val="F3F5F7"/>
                </a:solidFill>
              </a:defRPr>
            </a:lvl7pPr>
            <a:lvl8pPr>
              <a:defRPr sz="1650" b="0">
                <a:solidFill>
                  <a:srgbClr val="F3F5F7"/>
                </a:solidFill>
              </a:defRPr>
            </a:lvl8pPr>
            <a:lvl9pPr>
              <a:defRPr sz="16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CONTROLLER</a:t>
            </a:r>
          </a:p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StoreController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B02B2-8301-4D41-9BE2-CF2A5BD5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981200"/>
            <a:ext cx="3033713" cy="1300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3E"/>
          </a:solidFill>
          <a:ln xmlns:a="http://schemas.openxmlformats.org/drawingml/2006/main" w="9525">
            <a:solidFill>
              <a:srgbClr val="A5B1B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B8600-A8B3-4884-96BB-92A3804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865" y="2166938"/>
            <a:ext cx="2736533" cy="105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3F5F7"/>
                </a:solidFill>
              </a:defRPr>
            </a:defPPr>
            <a:lvl1pPr>
              <a:defRPr sz="1650" b="0">
                <a:solidFill>
                  <a:srgbClr val="F3F5F7"/>
                </a:solidFill>
              </a:defRPr>
            </a:lvl1pPr>
            <a:lvl2pPr>
              <a:defRPr sz="1650" b="0">
                <a:solidFill>
                  <a:srgbClr val="F3F5F7"/>
                </a:solidFill>
              </a:defRPr>
            </a:lvl2pPr>
            <a:lvl3pPr>
              <a:defRPr sz="1650" b="0">
                <a:solidFill>
                  <a:srgbClr val="F3F5F7"/>
                </a:solidFill>
              </a:defRPr>
            </a:lvl3pPr>
            <a:lvl4pPr>
              <a:defRPr sz="1650" b="0">
                <a:solidFill>
                  <a:srgbClr val="F3F5F7"/>
                </a:solidFill>
              </a:defRPr>
            </a:lvl4pPr>
            <a:lvl5pPr>
              <a:defRPr sz="1650" b="0">
                <a:solidFill>
                  <a:srgbClr val="F3F5F7"/>
                </a:solidFill>
              </a:defRPr>
            </a:lvl5pPr>
            <a:lvl6pPr>
              <a:defRPr sz="1650" b="0">
                <a:solidFill>
                  <a:srgbClr val="F3F5F7"/>
                </a:solidFill>
              </a:defRPr>
            </a:lvl6pPr>
            <a:lvl7pPr>
              <a:defRPr sz="1650" b="0">
                <a:solidFill>
                  <a:srgbClr val="F3F5F7"/>
                </a:solidFill>
              </a:defRPr>
            </a:lvl7pPr>
            <a:lvl8pPr>
              <a:defRPr sz="1650" b="0">
                <a:solidFill>
                  <a:srgbClr val="F3F5F7"/>
                </a:solidFill>
              </a:defRPr>
            </a:lvl8pPr>
            <a:lvl9pPr>
              <a:defRPr sz="16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MODEL</a:t>
            </a:r>
          </a:p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InventoryItem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45415-810A-4B14-A92C-959B912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515" y="2290763"/>
            <a:ext cx="5572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C42B8-D50D-41C1-8D44-E5934668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003" y="2290763"/>
            <a:ext cx="5572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20DA7-0036-4966-BE4B-76AA7F05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88" y="4086225"/>
            <a:ext cx="3095625" cy="1300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3E"/>
          </a:solidFill>
          <a:ln xmlns:a="http://schemas.openxmlformats.org/drawingml/2006/main" w="9525">
            <a:solidFill>
              <a:srgbClr val="A5B1B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B515E-3708-438B-9950-158E6D0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378" y="4271963"/>
            <a:ext cx="2798445" cy="105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3F5F7"/>
                </a:solidFill>
              </a:defRPr>
            </a:defPPr>
            <a:lvl1pPr>
              <a:defRPr sz="1650" b="0">
                <a:solidFill>
                  <a:srgbClr val="F3F5F7"/>
                </a:solidFill>
              </a:defRPr>
            </a:lvl1pPr>
            <a:lvl2pPr>
              <a:defRPr sz="1650" b="0">
                <a:solidFill>
                  <a:srgbClr val="F3F5F7"/>
                </a:solidFill>
              </a:defRPr>
            </a:lvl2pPr>
            <a:lvl3pPr>
              <a:defRPr sz="1650" b="0">
                <a:solidFill>
                  <a:srgbClr val="F3F5F7"/>
                </a:solidFill>
              </a:defRPr>
            </a:lvl3pPr>
            <a:lvl4pPr>
              <a:defRPr sz="1650" b="0">
                <a:solidFill>
                  <a:srgbClr val="F3F5F7"/>
                </a:solidFill>
              </a:defRPr>
            </a:lvl4pPr>
            <a:lvl5pPr>
              <a:defRPr sz="1650" b="0">
                <a:solidFill>
                  <a:srgbClr val="F3F5F7"/>
                </a:solidFill>
              </a:defRPr>
            </a:lvl5pPr>
            <a:lvl6pPr>
              <a:defRPr sz="1650" b="0">
                <a:solidFill>
                  <a:srgbClr val="F3F5F7"/>
                </a:solidFill>
              </a:defRPr>
            </a:lvl6pPr>
            <a:lvl7pPr>
              <a:defRPr sz="1650" b="0">
                <a:solidFill>
                  <a:srgbClr val="F3F5F7"/>
                </a:solidFill>
              </a:defRPr>
            </a:lvl7pPr>
            <a:lvl8pPr>
              <a:defRPr sz="1650" b="0">
                <a:solidFill>
                  <a:srgbClr val="F3F5F7"/>
                </a:solidFill>
              </a:defRPr>
            </a:lvl8pPr>
            <a:lvl9pPr>
              <a:defRPr sz="16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SERVIÇO</a:t>
            </a:r>
          </a:p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InventoryService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380A9-F2B0-4936-8608-D80B06E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086225"/>
            <a:ext cx="3033713" cy="1300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3E"/>
          </a:solidFill>
          <a:ln xmlns:a="http://schemas.openxmlformats.org/drawingml/2006/main" w="9525">
            <a:solidFill>
              <a:srgbClr val="A5B1B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265E6-F329-4E47-88AF-BF112B08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865" y="4271963"/>
            <a:ext cx="2736533" cy="105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3F5F7"/>
                </a:solidFill>
              </a:defRPr>
            </a:defPPr>
            <a:lvl1pPr>
              <a:defRPr sz="1650" b="0">
                <a:solidFill>
                  <a:srgbClr val="F3F5F7"/>
                </a:solidFill>
              </a:defRPr>
            </a:lvl1pPr>
            <a:lvl2pPr>
              <a:defRPr sz="1650" b="0">
                <a:solidFill>
                  <a:srgbClr val="F3F5F7"/>
                </a:solidFill>
              </a:defRPr>
            </a:lvl2pPr>
            <a:lvl3pPr>
              <a:defRPr sz="1650" b="0">
                <a:solidFill>
                  <a:srgbClr val="F3F5F7"/>
                </a:solidFill>
              </a:defRPr>
            </a:lvl3pPr>
            <a:lvl4pPr>
              <a:defRPr sz="1650" b="0">
                <a:solidFill>
                  <a:srgbClr val="F3F5F7"/>
                </a:solidFill>
              </a:defRPr>
            </a:lvl4pPr>
            <a:lvl5pPr>
              <a:defRPr sz="1650" b="0">
                <a:solidFill>
                  <a:srgbClr val="F3F5F7"/>
                </a:solidFill>
              </a:defRPr>
            </a:lvl5pPr>
            <a:lvl6pPr>
              <a:defRPr sz="1650" b="0">
                <a:solidFill>
                  <a:srgbClr val="F3F5F7"/>
                </a:solidFill>
              </a:defRPr>
            </a:lvl6pPr>
            <a:lvl7pPr>
              <a:defRPr sz="1650" b="0">
                <a:solidFill>
                  <a:srgbClr val="F3F5F7"/>
                </a:solidFill>
              </a:defRPr>
            </a:lvl7pPr>
            <a:lvl8pPr>
              <a:defRPr sz="1650" b="0">
                <a:solidFill>
                  <a:srgbClr val="F3F5F7"/>
                </a:solidFill>
              </a:defRPr>
            </a:lvl8pPr>
            <a:lvl9pPr>
              <a:defRPr sz="16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BANCO</a:t>
            </a:r>
          </a:p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33FEE-B122-4077-9D01-E5E6FA32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80423"/>
            <a:ext cx="557213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4E7DF-1C24-48EF-9F5D-4725F201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003" y="4333875"/>
            <a:ext cx="5572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AC841-6A1D-45D2-AA56-FC814F73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95950"/>
            <a:ext cx="1052512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3F5F7"/>
                </a:solidFill>
              </a:defRPr>
            </a:defPPr>
            <a:lvl1pPr>
              <a:defRPr sz="1650" b="0">
                <a:solidFill>
                  <a:srgbClr val="F3F5F7"/>
                </a:solidFill>
              </a:defRPr>
            </a:lvl1pPr>
            <a:lvl2pPr>
              <a:defRPr sz="1650" b="0">
                <a:solidFill>
                  <a:srgbClr val="F3F5F7"/>
                </a:solidFill>
              </a:defRPr>
            </a:lvl2pPr>
            <a:lvl3pPr>
              <a:defRPr sz="1650" b="0">
                <a:solidFill>
                  <a:srgbClr val="F3F5F7"/>
                </a:solidFill>
              </a:defRPr>
            </a:lvl3pPr>
            <a:lvl4pPr>
              <a:defRPr sz="1650" b="0">
                <a:solidFill>
                  <a:srgbClr val="F3F5F7"/>
                </a:solidFill>
              </a:defRPr>
            </a:lvl4pPr>
            <a:lvl5pPr>
              <a:defRPr sz="1650" b="0">
                <a:solidFill>
                  <a:srgbClr val="F3F5F7"/>
                </a:solidFill>
              </a:defRPr>
            </a:lvl5pPr>
            <a:lvl6pPr>
              <a:defRPr sz="1650" b="0">
                <a:solidFill>
                  <a:srgbClr val="F3F5F7"/>
                </a:solidFill>
              </a:defRPr>
            </a:lvl6pPr>
            <a:lvl7pPr>
              <a:defRPr sz="1650" b="0">
                <a:solidFill>
                  <a:srgbClr val="F3F5F7"/>
                </a:solidFill>
              </a:defRPr>
            </a:lvl7pPr>
            <a:lvl8pPr>
              <a:defRPr sz="1650" b="0">
                <a:solidFill>
                  <a:srgbClr val="F3F5F7"/>
                </a:solidFill>
              </a:defRPr>
            </a:lvl8pPr>
            <a:lvl9pPr>
              <a:defRPr sz="16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Resposta: mensagem e saldo atualizados na tela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3E740-E09D-42F9-A03A-E0CBC845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438" y="3380423"/>
            <a:ext cx="557213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F3F5F7"/>
                </a:solidFill>
              </a:defRPr>
            </a:defPPr>
            <a:lvl1pPr>
              <a:defRPr sz="2250">
                <a:solidFill>
                  <a:srgbClr val="F3F5F7"/>
                </a:solidFill>
              </a:defRPr>
            </a:lvl1pPr>
            <a:lvl2pPr>
              <a:defRPr sz="2250">
                <a:solidFill>
                  <a:srgbClr val="F3F5F7"/>
                </a:solidFill>
              </a:defRPr>
            </a:lvl2pPr>
            <a:lvl3pPr>
              <a:defRPr sz="2250">
                <a:solidFill>
                  <a:srgbClr val="F3F5F7"/>
                </a:solidFill>
              </a:defRPr>
            </a:lvl3pPr>
            <a:lvl4pPr>
              <a:defRPr sz="2250">
                <a:solidFill>
                  <a:srgbClr val="F3F5F7"/>
                </a:solidFill>
              </a:defRPr>
            </a:lvl4pPr>
            <a:lvl5pPr>
              <a:defRPr sz="2250">
                <a:solidFill>
                  <a:srgbClr val="F3F5F7"/>
                </a:solidFill>
              </a:defRPr>
            </a:lvl5pPr>
            <a:lvl6pPr>
              <a:defRPr sz="2250">
                <a:solidFill>
                  <a:srgbClr val="F3F5F7"/>
                </a:solidFill>
              </a:defRPr>
            </a:lvl6pPr>
            <a:lvl7pPr>
              <a:defRPr sz="2250">
                <a:solidFill>
                  <a:srgbClr val="F3F5F7"/>
                </a:solidFill>
              </a:defRPr>
            </a:lvl7pPr>
            <a:lvl8pPr>
              <a:defRPr sz="2250">
                <a:solidFill>
                  <a:srgbClr val="F3F5F7"/>
                </a:solidFill>
              </a:defRPr>
            </a:lvl8pPr>
            <a:lvl9pPr>
              <a:defRPr sz="225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>
                <a:solidFill>
                  <a:srgbClr val="F3F5F7"/>
                </a:solidFill>
              </a:defRPr>
            </a:pPr>
            <a:r>
              <a:rPr sz="2250">
                <a:solidFill>
                  <a:srgbClr val="F3F5F7"/>
                </a:solidFill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656743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321AC-BD14-4F71-B272-C381CC4D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Protótipo 1: login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E4D53-CB75-4F13-8630-0A719DBD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3F5F7"/>
                </a:solidFill>
              </a:defRPr>
            </a:defPPr>
            <a:lvl1pPr>
              <a:defRPr sz="1875" b="0">
                <a:solidFill>
                  <a:srgbClr val="F3F5F7"/>
                </a:solidFill>
              </a:defRPr>
            </a:lvl1pPr>
            <a:lvl2pPr>
              <a:defRPr sz="1875" b="0">
                <a:solidFill>
                  <a:srgbClr val="F3F5F7"/>
                </a:solidFill>
              </a:defRPr>
            </a:lvl2pPr>
            <a:lvl3pPr>
              <a:defRPr sz="1875" b="0">
                <a:solidFill>
                  <a:srgbClr val="F3F5F7"/>
                </a:solidFill>
              </a:defRPr>
            </a:lvl3pPr>
            <a:lvl4pPr>
              <a:defRPr sz="1875" b="0">
                <a:solidFill>
                  <a:srgbClr val="F3F5F7"/>
                </a:solidFill>
              </a:defRPr>
            </a:lvl4pPr>
            <a:lvl5pPr>
              <a:defRPr sz="1875" b="0">
                <a:solidFill>
                  <a:srgbClr val="F3F5F7"/>
                </a:solidFill>
              </a:defRPr>
            </a:lvl5pPr>
            <a:lvl6pPr>
              <a:defRPr sz="1875" b="0">
                <a:solidFill>
                  <a:srgbClr val="F3F5F7"/>
                </a:solidFill>
              </a:defRPr>
            </a:lvl6pPr>
            <a:lvl7pPr>
              <a:defRPr sz="1875" b="0">
                <a:solidFill>
                  <a:srgbClr val="F3F5F7"/>
                </a:solidFill>
              </a:defRPr>
            </a:lvl7pPr>
            <a:lvl8pPr>
              <a:defRPr sz="1875" b="0">
                <a:solidFill>
                  <a:srgbClr val="F3F5F7"/>
                </a:solidFill>
              </a:defRPr>
            </a:lvl8pPr>
            <a:lvl9pPr>
              <a:defRPr sz="1875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92A02-D4EC-4DB8-8E92-6327C85B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09725"/>
            <a:ext cx="1069848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381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14273-3DBE-4EFE-821E-6320C2A7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857375"/>
            <a:ext cx="49530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12B"/>
                </a:solidFill>
              </a:defRPr>
            </a:defPPr>
            <a:lvl1pPr>
              <a:defRPr sz="1725" b="1">
                <a:solidFill>
                  <a:srgbClr val="17212B"/>
                </a:solidFill>
              </a:defRPr>
            </a:lvl1pPr>
            <a:lvl2pPr>
              <a:defRPr sz="1725" b="1">
                <a:solidFill>
                  <a:srgbClr val="17212B"/>
                </a:solidFill>
              </a:defRPr>
            </a:lvl2pPr>
            <a:lvl3pPr>
              <a:defRPr sz="1725" b="1">
                <a:solidFill>
                  <a:srgbClr val="17212B"/>
                </a:solidFill>
              </a:defRPr>
            </a:lvl3pPr>
            <a:lvl4pPr>
              <a:defRPr sz="1725" b="1">
                <a:solidFill>
                  <a:srgbClr val="17212B"/>
                </a:solidFill>
              </a:defRPr>
            </a:lvl4pPr>
            <a:lvl5pPr>
              <a:defRPr sz="1725" b="1">
                <a:solidFill>
                  <a:srgbClr val="17212B"/>
                </a:solidFill>
              </a:defRPr>
            </a:lvl5pPr>
            <a:lvl6pPr>
              <a:defRPr sz="1725" b="1">
                <a:solidFill>
                  <a:srgbClr val="17212B"/>
                </a:solidFill>
              </a:defRPr>
            </a:lvl6pPr>
            <a:lvl7pPr>
              <a:defRPr sz="1725" b="1">
                <a:solidFill>
                  <a:srgbClr val="17212B"/>
                </a:solidFill>
              </a:defRPr>
            </a:lvl7pPr>
            <a:lvl8pPr>
              <a:defRPr sz="1725" b="1">
                <a:solidFill>
                  <a:srgbClr val="17212B"/>
                </a:solidFill>
              </a:defRPr>
            </a:lvl8pPr>
            <a:lvl9pPr>
              <a:defRPr sz="1725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ELDRITCH ARENA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E24AF-9EB9-452A-A96F-928C1289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38413"/>
            <a:ext cx="52006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E-mail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DE54C-AF66-46D1-B8BA-78932FAF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09888"/>
            <a:ext cx="5200650" cy="42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95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C7B42-0CE0-4B8B-B205-5FDDA3C3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29013"/>
            <a:ext cx="52006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Senha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5E4E9-6470-4FF8-80D9-FA7FBFB8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00488"/>
            <a:ext cx="5200650" cy="42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95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5AFDB-EE35-49DA-A542-355F73B8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643438"/>
            <a:ext cx="24765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3E"/>
          </a:solidFill>
          <a:ln xmlns:a="http://schemas.openxmlformats.org/drawingml/2006/main" w="9525">
            <a:solidFill>
              <a:srgbClr val="A5B1B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9C254-BE27-4474-BE83-25AB636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865" y="4829175"/>
            <a:ext cx="217932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3F5F7"/>
                </a:solidFill>
              </a:defRPr>
            </a:defPPr>
            <a:lvl1pPr>
              <a:defRPr sz="1650" b="0">
                <a:solidFill>
                  <a:srgbClr val="F3F5F7"/>
                </a:solidFill>
              </a:defRPr>
            </a:lvl1pPr>
            <a:lvl2pPr>
              <a:defRPr sz="1650" b="0">
                <a:solidFill>
                  <a:srgbClr val="F3F5F7"/>
                </a:solidFill>
              </a:defRPr>
            </a:lvl2pPr>
            <a:lvl3pPr>
              <a:defRPr sz="1650" b="0">
                <a:solidFill>
                  <a:srgbClr val="F3F5F7"/>
                </a:solidFill>
              </a:defRPr>
            </a:lvl3pPr>
            <a:lvl4pPr>
              <a:defRPr sz="1650" b="0">
                <a:solidFill>
                  <a:srgbClr val="F3F5F7"/>
                </a:solidFill>
              </a:defRPr>
            </a:lvl4pPr>
            <a:lvl5pPr>
              <a:defRPr sz="1650" b="0">
                <a:solidFill>
                  <a:srgbClr val="F3F5F7"/>
                </a:solidFill>
              </a:defRPr>
            </a:lvl5pPr>
            <a:lvl6pPr>
              <a:defRPr sz="1650" b="0">
                <a:solidFill>
                  <a:srgbClr val="F3F5F7"/>
                </a:solidFill>
              </a:defRPr>
            </a:lvl6pPr>
            <a:lvl7pPr>
              <a:defRPr sz="1650" b="0">
                <a:solidFill>
                  <a:srgbClr val="F3F5F7"/>
                </a:solidFill>
              </a:defRPr>
            </a:lvl7pPr>
            <a:lvl8pPr>
              <a:defRPr sz="1650" b="0">
                <a:solidFill>
                  <a:srgbClr val="F3F5F7"/>
                </a:solidFill>
              </a:defRPr>
            </a:lvl8pPr>
            <a:lvl9pPr>
              <a:defRPr sz="16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Entrar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21508-8712-41E3-9E95-D1021D78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29175"/>
            <a:ext cx="445770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Lembrar acesso     Cadastrar</a:t>
            </a:r>
          </a:p>
        </p:txBody>
      </p:sp>
    </p:spTree>
    <p:extLst>
      <p:ext uri="{BB962C8B-B14F-4D97-AF65-F5344CB8AC3E}">
        <p14:creationId xmlns:p14="http://schemas.microsoft.com/office/powerpoint/2010/main" val="1937978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2FFB3-B533-4637-B211-537444F3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Protótipo 2: painel da loja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69CAB-ADAE-4C45-A305-B17E9776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3F5F7"/>
                </a:solidFill>
              </a:defRPr>
            </a:defPPr>
            <a:lvl1pPr>
              <a:defRPr sz="1875" b="0">
                <a:solidFill>
                  <a:srgbClr val="F3F5F7"/>
                </a:solidFill>
              </a:defRPr>
            </a:lvl1pPr>
            <a:lvl2pPr>
              <a:defRPr sz="1875" b="0">
                <a:solidFill>
                  <a:srgbClr val="F3F5F7"/>
                </a:solidFill>
              </a:defRPr>
            </a:lvl2pPr>
            <a:lvl3pPr>
              <a:defRPr sz="1875" b="0">
                <a:solidFill>
                  <a:srgbClr val="F3F5F7"/>
                </a:solidFill>
              </a:defRPr>
            </a:lvl3pPr>
            <a:lvl4pPr>
              <a:defRPr sz="1875" b="0">
                <a:solidFill>
                  <a:srgbClr val="F3F5F7"/>
                </a:solidFill>
              </a:defRPr>
            </a:lvl4pPr>
            <a:lvl5pPr>
              <a:defRPr sz="1875" b="0">
                <a:solidFill>
                  <a:srgbClr val="F3F5F7"/>
                </a:solidFill>
              </a:defRPr>
            </a:lvl5pPr>
            <a:lvl6pPr>
              <a:defRPr sz="1875" b="0">
                <a:solidFill>
                  <a:srgbClr val="F3F5F7"/>
                </a:solidFill>
              </a:defRPr>
            </a:lvl6pPr>
            <a:lvl7pPr>
              <a:defRPr sz="1875" b="0">
                <a:solidFill>
                  <a:srgbClr val="F3F5F7"/>
                </a:solidFill>
              </a:defRPr>
            </a:lvl7pPr>
            <a:lvl8pPr>
              <a:defRPr sz="1875" b="0">
                <a:solidFill>
                  <a:srgbClr val="F3F5F7"/>
                </a:solidFill>
              </a:defRPr>
            </a:lvl8pPr>
            <a:lvl9pPr>
              <a:defRPr sz="1875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96D3F-7249-4E60-AA6F-D68B866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09725"/>
            <a:ext cx="1069848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381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C1301-28E4-49A1-88A0-C95A0783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57375"/>
            <a:ext cx="10153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  <a:lvl1pPr>
              <a:defRPr sz="1575" b="0">
                <a:solidFill>
                  <a:srgbClr val="17212B"/>
                </a:solidFill>
              </a:defRPr>
            </a:lvl1pPr>
            <a:lvl2pPr>
              <a:defRPr sz="1575" b="0">
                <a:solidFill>
                  <a:srgbClr val="17212B"/>
                </a:solidFill>
              </a:defRPr>
            </a:lvl2pPr>
            <a:lvl3pPr>
              <a:defRPr sz="1575" b="0">
                <a:solidFill>
                  <a:srgbClr val="17212B"/>
                </a:solidFill>
              </a:defRPr>
            </a:lvl3pPr>
            <a:lvl4pPr>
              <a:defRPr sz="1575" b="0">
                <a:solidFill>
                  <a:srgbClr val="17212B"/>
                </a:solidFill>
              </a:defRPr>
            </a:lvl4pPr>
            <a:lvl5pPr>
              <a:defRPr sz="1575" b="0">
                <a:solidFill>
                  <a:srgbClr val="17212B"/>
                </a:solidFill>
              </a:defRPr>
            </a:lvl5pPr>
            <a:lvl6pPr>
              <a:defRPr sz="1575" b="0">
                <a:solidFill>
                  <a:srgbClr val="17212B"/>
                </a:solidFill>
              </a:defRPr>
            </a:lvl6pPr>
            <a:lvl7pPr>
              <a:defRPr sz="1575" b="0">
                <a:solidFill>
                  <a:srgbClr val="17212B"/>
                </a:solidFill>
              </a:defRPr>
            </a:lvl7pPr>
            <a:lvl8pPr>
              <a:defRPr sz="1575" b="0">
                <a:solidFill>
                  <a:srgbClr val="17212B"/>
                </a:solidFill>
              </a:defRPr>
            </a:lvl8pPr>
            <a:lvl9pPr>
              <a:defRPr sz="157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Torneios    Marketplace    Comunidade    Minha loja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93F3F-C3A0-4F5F-9485-6367ADD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76500"/>
            <a:ext cx="681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12B"/>
                </a:solidFill>
              </a:defRPr>
            </a:defPPr>
            <a:lvl1pPr>
              <a:defRPr sz="2250" b="1">
                <a:solidFill>
                  <a:srgbClr val="17212B"/>
                </a:solidFill>
              </a:defRPr>
            </a:lvl1pPr>
            <a:lvl2pPr>
              <a:defRPr sz="2250" b="1">
                <a:solidFill>
                  <a:srgbClr val="17212B"/>
                </a:solidFill>
              </a:defRPr>
            </a:lvl2pPr>
            <a:lvl3pPr>
              <a:defRPr sz="2250" b="1">
                <a:solidFill>
                  <a:srgbClr val="17212B"/>
                </a:solidFill>
              </a:defRPr>
            </a:lvl3pPr>
            <a:lvl4pPr>
              <a:defRPr sz="2250" b="1">
                <a:solidFill>
                  <a:srgbClr val="17212B"/>
                </a:solidFill>
              </a:defRPr>
            </a:lvl4pPr>
            <a:lvl5pPr>
              <a:defRPr sz="2250" b="1">
                <a:solidFill>
                  <a:srgbClr val="17212B"/>
                </a:solidFill>
              </a:defRPr>
            </a:lvl5pPr>
            <a:lvl6pPr>
              <a:defRPr sz="2250" b="1">
                <a:solidFill>
                  <a:srgbClr val="17212B"/>
                </a:solidFill>
              </a:defRPr>
            </a:lvl6pPr>
            <a:lvl7pPr>
              <a:defRPr sz="2250" b="1">
                <a:solidFill>
                  <a:srgbClr val="17212B"/>
                </a:solidFill>
              </a:defRPr>
            </a:lvl7pPr>
            <a:lvl8pPr>
              <a:defRPr sz="2250" b="1">
                <a:solidFill>
                  <a:srgbClr val="17212B"/>
                </a:solidFill>
              </a:defRPr>
            </a:lvl8pPr>
            <a:lvl9pPr>
              <a:defRPr sz="2250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Meu estoque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A5028-118C-4CCD-93DD-5293E912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95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12B"/>
                </a:solidFill>
              </a:defRPr>
            </a:defPPr>
            <a:lvl1pPr>
              <a:defRPr sz="1650" b="0">
                <a:solidFill>
                  <a:srgbClr val="17212B"/>
                </a:solidFill>
              </a:defRPr>
            </a:lvl1pPr>
            <a:lvl2pPr>
              <a:defRPr sz="1650" b="0">
                <a:solidFill>
                  <a:srgbClr val="17212B"/>
                </a:solidFill>
              </a:defRPr>
            </a:lvl2pPr>
            <a:lvl3pPr>
              <a:defRPr sz="1650" b="0">
                <a:solidFill>
                  <a:srgbClr val="17212B"/>
                </a:solidFill>
              </a:defRPr>
            </a:lvl3pPr>
            <a:lvl4pPr>
              <a:defRPr sz="1650" b="0">
                <a:solidFill>
                  <a:srgbClr val="17212B"/>
                </a:solidFill>
              </a:defRPr>
            </a:lvl4pPr>
            <a:lvl5pPr>
              <a:defRPr sz="1650" b="0">
                <a:solidFill>
                  <a:srgbClr val="17212B"/>
                </a:solidFill>
              </a:defRPr>
            </a:lvl5pPr>
            <a:lvl6pPr>
              <a:defRPr sz="1650" b="0">
                <a:solidFill>
                  <a:srgbClr val="17212B"/>
                </a:solidFill>
              </a:defRPr>
            </a:lvl6pPr>
            <a:lvl7pPr>
              <a:defRPr sz="1650" b="0">
                <a:solidFill>
                  <a:srgbClr val="17212B"/>
                </a:solidFill>
              </a:defRPr>
            </a:lvl7pPr>
            <a:lvl8pPr>
              <a:defRPr sz="1650" b="0">
                <a:solidFill>
                  <a:srgbClr val="17212B"/>
                </a:solidFill>
              </a:defRPr>
            </a:lvl8pPr>
            <a:lvl9pPr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Produtos: 1     Unidades: 5     Estoque baixo: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F9B97-029C-4525-B64E-3FD1944F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14750"/>
            <a:ext cx="5076825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Buscar nome ou SKU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A66D4-6EB8-4350-9137-BA77B610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86225"/>
            <a:ext cx="5076825" cy="42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95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B2EEC-49E0-4489-AF05-0C451EF0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48138"/>
            <a:ext cx="4705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  <a:lvl1pPr>
              <a:defRPr sz="1575" b="0">
                <a:solidFill>
                  <a:srgbClr val="17212B"/>
                </a:solidFill>
              </a:defRPr>
            </a:lvl1pPr>
            <a:lvl2pPr>
              <a:defRPr sz="1575" b="0">
                <a:solidFill>
                  <a:srgbClr val="17212B"/>
                </a:solidFill>
              </a:defRPr>
            </a:lvl2pPr>
            <a:lvl3pPr>
              <a:defRPr sz="1575" b="0">
                <a:solidFill>
                  <a:srgbClr val="17212B"/>
                </a:solidFill>
              </a:defRPr>
            </a:lvl3pPr>
            <a:lvl4pPr>
              <a:defRPr sz="1575" b="0">
                <a:solidFill>
                  <a:srgbClr val="17212B"/>
                </a:solidFill>
              </a:defRPr>
            </a:lvl4pPr>
            <a:lvl5pPr>
              <a:defRPr sz="1575" b="0">
                <a:solidFill>
                  <a:srgbClr val="17212B"/>
                </a:solidFill>
              </a:defRPr>
            </a:lvl5pPr>
            <a:lvl6pPr>
              <a:defRPr sz="1575" b="0">
                <a:solidFill>
                  <a:srgbClr val="17212B"/>
                </a:solidFill>
              </a:defRPr>
            </a:lvl6pPr>
            <a:lvl7pPr>
              <a:defRPr sz="1575" b="0">
                <a:solidFill>
                  <a:srgbClr val="17212B"/>
                </a:solidFill>
              </a:defRPr>
            </a:lvl7pPr>
            <a:lvl8pPr>
              <a:defRPr sz="1575" b="0">
                <a:solidFill>
                  <a:srgbClr val="17212B"/>
                </a:solidFill>
              </a:defRPr>
            </a:lvl8pPr>
            <a:lvl9pPr>
              <a:defRPr sz="157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Filtro: todos     Cadastrar produto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C0F23-97CE-4339-A7DA-858D0128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76825"/>
            <a:ext cx="1015365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12B"/>
                </a:solidFill>
              </a:defRPr>
            </a:defPPr>
            <a:lvl1pPr>
              <a:defRPr sz="1725" b="0">
                <a:solidFill>
                  <a:srgbClr val="17212B"/>
                </a:solidFill>
              </a:defRPr>
            </a:lvl1pPr>
            <a:lvl2pPr>
              <a:defRPr sz="1725" b="0">
                <a:solidFill>
                  <a:srgbClr val="17212B"/>
                </a:solidFill>
              </a:defRPr>
            </a:lvl2pPr>
            <a:lvl3pPr>
              <a:defRPr sz="1725" b="0">
                <a:solidFill>
                  <a:srgbClr val="17212B"/>
                </a:solidFill>
              </a:defRPr>
            </a:lvl3pPr>
            <a:lvl4pPr>
              <a:defRPr sz="1725" b="0">
                <a:solidFill>
                  <a:srgbClr val="17212B"/>
                </a:solidFill>
              </a:defRPr>
            </a:lvl4pPr>
            <a:lvl5pPr>
              <a:defRPr sz="1725" b="0">
                <a:solidFill>
                  <a:srgbClr val="17212B"/>
                </a:solidFill>
              </a:defRPr>
            </a:lvl5pPr>
            <a:lvl6pPr>
              <a:defRPr sz="1725" b="0">
                <a:solidFill>
                  <a:srgbClr val="17212B"/>
                </a:solidFill>
              </a:defRPr>
            </a:lvl6pPr>
            <a:lvl7pPr>
              <a:defRPr sz="1725" b="0">
                <a:solidFill>
                  <a:srgbClr val="17212B"/>
                </a:solidFill>
              </a:defRPr>
            </a:lvl7pPr>
            <a:lvl8pPr>
              <a:defRPr sz="1725" b="0">
                <a:solidFill>
                  <a:srgbClr val="17212B"/>
                </a:solidFill>
              </a:defRPr>
            </a:lvl8pPr>
            <a:lvl9pPr>
              <a:defRPr sz="17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SKU EX-001   Carta exemplo   Saldo 5   Abrir item</a:t>
            </a:r>
          </a:p>
        </p:txBody>
      </p:sp>
    </p:spTree>
    <p:extLst>
      <p:ext uri="{BB962C8B-B14F-4D97-AF65-F5344CB8AC3E}">
        <p14:creationId xmlns:p14="http://schemas.microsoft.com/office/powerpoint/2010/main" val="2006040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62B84-32ED-4C34-8468-73EB92F4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Protótipo 3: cadastro de carta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0AA89-9417-41C8-B70E-638AA8EC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3F5F7"/>
                </a:solidFill>
              </a:defRPr>
            </a:defPPr>
            <a:lvl1pPr>
              <a:defRPr sz="1875" b="0">
                <a:solidFill>
                  <a:srgbClr val="F3F5F7"/>
                </a:solidFill>
              </a:defRPr>
            </a:lvl1pPr>
            <a:lvl2pPr>
              <a:defRPr sz="1875" b="0">
                <a:solidFill>
                  <a:srgbClr val="F3F5F7"/>
                </a:solidFill>
              </a:defRPr>
            </a:lvl2pPr>
            <a:lvl3pPr>
              <a:defRPr sz="1875" b="0">
                <a:solidFill>
                  <a:srgbClr val="F3F5F7"/>
                </a:solidFill>
              </a:defRPr>
            </a:lvl3pPr>
            <a:lvl4pPr>
              <a:defRPr sz="1875" b="0">
                <a:solidFill>
                  <a:srgbClr val="F3F5F7"/>
                </a:solidFill>
              </a:defRPr>
            </a:lvl4pPr>
            <a:lvl5pPr>
              <a:defRPr sz="1875" b="0">
                <a:solidFill>
                  <a:srgbClr val="F3F5F7"/>
                </a:solidFill>
              </a:defRPr>
            </a:lvl5pPr>
            <a:lvl6pPr>
              <a:defRPr sz="1875" b="0">
                <a:solidFill>
                  <a:srgbClr val="F3F5F7"/>
                </a:solidFill>
              </a:defRPr>
            </a:lvl6pPr>
            <a:lvl7pPr>
              <a:defRPr sz="1875" b="0">
                <a:solidFill>
                  <a:srgbClr val="F3F5F7"/>
                </a:solidFill>
              </a:defRPr>
            </a:lvl7pPr>
            <a:lvl8pPr>
              <a:defRPr sz="1875" b="0">
                <a:solidFill>
                  <a:srgbClr val="F3F5F7"/>
                </a:solidFill>
              </a:defRPr>
            </a:lvl8pPr>
            <a:lvl9pPr>
              <a:defRPr sz="1875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65503-2E88-42B7-A814-6DF30CD5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09725"/>
            <a:ext cx="1069848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381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7D48A-0EEC-4FF8-AA70-E908E6C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5737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12B"/>
                </a:solidFill>
              </a:defRPr>
            </a:defPPr>
            <a:lvl1pPr>
              <a:defRPr sz="2100" b="1">
                <a:solidFill>
                  <a:srgbClr val="17212B"/>
                </a:solidFill>
              </a:defRPr>
            </a:lvl1pPr>
            <a:lvl2pPr>
              <a:defRPr sz="2100" b="1">
                <a:solidFill>
                  <a:srgbClr val="17212B"/>
                </a:solidFill>
              </a:defRPr>
            </a:lvl2pPr>
            <a:lvl3pPr>
              <a:defRPr sz="2100" b="1">
                <a:solidFill>
                  <a:srgbClr val="17212B"/>
                </a:solidFill>
              </a:defRPr>
            </a:lvl3pPr>
            <a:lvl4pPr>
              <a:defRPr sz="2100" b="1">
                <a:solidFill>
                  <a:srgbClr val="17212B"/>
                </a:solidFill>
              </a:defRPr>
            </a:lvl4pPr>
            <a:lvl5pPr>
              <a:defRPr sz="2100" b="1">
                <a:solidFill>
                  <a:srgbClr val="17212B"/>
                </a:solidFill>
              </a:defRPr>
            </a:lvl5pPr>
            <a:lvl6pPr>
              <a:defRPr sz="2100" b="1">
                <a:solidFill>
                  <a:srgbClr val="17212B"/>
                </a:solidFill>
              </a:defRPr>
            </a:lvl6pPr>
            <a:lvl7pPr>
              <a:defRPr sz="2100" b="1">
                <a:solidFill>
                  <a:srgbClr val="17212B"/>
                </a:solidFill>
              </a:defRPr>
            </a:lvl7pPr>
            <a:lvl8pPr>
              <a:defRPr sz="2100" b="1">
                <a:solidFill>
                  <a:srgbClr val="17212B"/>
                </a:solidFill>
              </a:defRPr>
            </a:lvl8pPr>
            <a:lvl9pPr>
              <a:defRPr sz="2100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Cadastrar 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5EC2D-8721-4CAD-81B0-F372ADF7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38413"/>
            <a:ext cx="29718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SKU / código interno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131A7-5224-49E6-90DE-CC582E26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09888"/>
            <a:ext cx="2971800" cy="42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95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B663E-3920-4B27-9154-1D3384C1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38413"/>
            <a:ext cx="64389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Nome da carta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12845-0E36-44AF-8D62-C8F6B5E3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09888"/>
            <a:ext cx="6438900" cy="42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95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EED89-245F-4FCF-90D6-173DBA11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29013"/>
            <a:ext cx="29718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Jogo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E6E09-1A64-4613-843B-6C1EAA7C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00488"/>
            <a:ext cx="2971800" cy="42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95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F558D-F51F-4145-A635-79AF4BA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9013"/>
            <a:ext cx="29718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Custo unitário / preço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F1CA5-CE0F-4E92-9D1A-7E57D8C7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0488"/>
            <a:ext cx="2971800" cy="42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959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A9477-A684-4273-94F5-7DBCAA4F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29013"/>
            <a:ext cx="29718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Quantidade / mínimo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D3A01-FB75-401C-B655-916C5278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00488"/>
            <a:ext cx="2971800" cy="42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95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CF458-74FD-4435-8767-4542F49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67263"/>
            <a:ext cx="2971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3E"/>
          </a:solidFill>
          <a:ln xmlns:a="http://schemas.openxmlformats.org/drawingml/2006/main" w="9525">
            <a:solidFill>
              <a:srgbClr val="A5B1B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8B6F9-33AA-4EBB-B167-323F66D7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" y="4953000"/>
            <a:ext cx="26746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3F5F7"/>
                </a:solidFill>
              </a:defRPr>
            </a:defPPr>
            <a:lvl1pPr>
              <a:defRPr sz="1650" b="0">
                <a:solidFill>
                  <a:srgbClr val="F3F5F7"/>
                </a:solidFill>
              </a:defRPr>
            </a:lvl1pPr>
            <a:lvl2pPr>
              <a:defRPr sz="1650" b="0">
                <a:solidFill>
                  <a:srgbClr val="F3F5F7"/>
                </a:solidFill>
              </a:defRPr>
            </a:lvl2pPr>
            <a:lvl3pPr>
              <a:defRPr sz="1650" b="0">
                <a:solidFill>
                  <a:srgbClr val="F3F5F7"/>
                </a:solidFill>
              </a:defRPr>
            </a:lvl3pPr>
            <a:lvl4pPr>
              <a:defRPr sz="1650" b="0">
                <a:solidFill>
                  <a:srgbClr val="F3F5F7"/>
                </a:solidFill>
              </a:defRPr>
            </a:lvl4pPr>
            <a:lvl5pPr>
              <a:defRPr sz="1650" b="0">
                <a:solidFill>
                  <a:srgbClr val="F3F5F7"/>
                </a:solidFill>
              </a:defRPr>
            </a:lvl5pPr>
            <a:lvl6pPr>
              <a:defRPr sz="1650" b="0">
                <a:solidFill>
                  <a:srgbClr val="F3F5F7"/>
                </a:solidFill>
              </a:defRPr>
            </a:lvl6pPr>
            <a:lvl7pPr>
              <a:defRPr sz="1650" b="0">
                <a:solidFill>
                  <a:srgbClr val="F3F5F7"/>
                </a:solidFill>
              </a:defRPr>
            </a:lvl7pPr>
            <a:lvl8pPr>
              <a:defRPr sz="1650" b="0">
                <a:solidFill>
                  <a:srgbClr val="F3F5F7"/>
                </a:solidFill>
              </a:defRPr>
            </a:lvl8pPr>
            <a:lvl9pPr>
              <a:defRPr sz="16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3F5F7"/>
                </a:solidFill>
              </a:defRPr>
            </a:pPr>
            <a:r>
              <a:rPr sz="1650" b="0">
                <a:solidFill>
                  <a:srgbClr val="F3F5F7"/>
                </a:solidFill>
              </a:rPr>
              <a:t>Salvar produto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338CB-DB55-4D12-9192-9F22A621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776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12B"/>
                </a:solidFill>
              </a:defRPr>
            </a:defPPr>
            <a:lvl1pPr>
              <a:defRPr sz="1650" b="0">
                <a:solidFill>
                  <a:srgbClr val="17212B"/>
                </a:solidFill>
              </a:defRPr>
            </a:lvl1pPr>
            <a:lvl2pPr>
              <a:defRPr sz="1650" b="0">
                <a:solidFill>
                  <a:srgbClr val="17212B"/>
                </a:solidFill>
              </a:defRPr>
            </a:lvl2pPr>
            <a:lvl3pPr>
              <a:defRPr sz="1650" b="0">
                <a:solidFill>
                  <a:srgbClr val="17212B"/>
                </a:solidFill>
              </a:defRPr>
            </a:lvl3pPr>
            <a:lvl4pPr>
              <a:defRPr sz="1650" b="0">
                <a:solidFill>
                  <a:srgbClr val="17212B"/>
                </a:solidFill>
              </a:defRPr>
            </a:lvl4pPr>
            <a:lvl5pPr>
              <a:defRPr sz="1650" b="0">
                <a:solidFill>
                  <a:srgbClr val="17212B"/>
                </a:solidFill>
              </a:defRPr>
            </a:lvl5pPr>
            <a:lvl6pPr>
              <a:defRPr sz="1650" b="0">
                <a:solidFill>
                  <a:srgbClr val="17212B"/>
                </a:solidFill>
              </a:defRPr>
            </a:lvl6pPr>
            <a:lvl7pPr>
              <a:defRPr sz="1650" b="0">
                <a:solidFill>
                  <a:srgbClr val="17212B"/>
                </a:solidFill>
              </a:defRPr>
            </a:lvl7pPr>
            <a:lvl8pPr>
              <a:defRPr sz="1650" b="0">
                <a:solidFill>
                  <a:srgbClr val="17212B"/>
                </a:solidFill>
              </a:defRPr>
            </a:lvl8pPr>
            <a:lvl9pPr>
              <a:defRPr sz="16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Voltar ao estoque</a:t>
            </a:r>
          </a:p>
        </p:txBody>
      </p:sp>
    </p:spTree>
    <p:extLst>
      <p:ext uri="{BB962C8B-B14F-4D97-AF65-F5344CB8AC3E}">
        <p14:creationId xmlns:p14="http://schemas.microsoft.com/office/powerpoint/2010/main" val="17126890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1C8F5-63AB-4440-A4E3-50F6CBCF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Critérios de aceitação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E4850-58A4-406A-8BAD-D74BECAA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Saldo 5, saída 2: saldo final 3 e histórico registrado.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Saída maior que o saldo: operação recusada.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Outro lojista: acesso ao produto bloqueado.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Produto publicado sem saldo: indisponível na vitrine.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Reenvio do mesmo movimento: nenhuma baixa extra.</a:t>
            </a:r>
          </a:p>
        </p:txBody>
      </p:sp>
    </p:spTree>
    <p:extLst>
      <p:ext uri="{BB962C8B-B14F-4D97-AF65-F5344CB8AC3E}">
        <p14:creationId xmlns:p14="http://schemas.microsoft.com/office/powerpoint/2010/main" val="4985003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88F0B-467F-4665-BF82-AC566DF1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3388"/>
            <a:ext cx="1064895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6C46A"/>
                </a:solidFill>
              </a:defRPr>
            </a:defPPr>
            <a:lvl1pPr>
              <a:defRPr sz="3300" b="1">
                <a:solidFill>
                  <a:srgbClr val="E6C46A"/>
                </a:solidFill>
              </a:defRPr>
            </a:lvl1pPr>
            <a:lvl2pPr>
              <a:defRPr sz="3300" b="1">
                <a:solidFill>
                  <a:srgbClr val="E6C46A"/>
                </a:solidFill>
              </a:defRPr>
            </a:lvl2pPr>
            <a:lvl3pPr>
              <a:defRPr sz="3300" b="1">
                <a:solidFill>
                  <a:srgbClr val="E6C46A"/>
                </a:solidFill>
              </a:defRPr>
            </a:lvl3pPr>
            <a:lvl4pPr>
              <a:defRPr sz="3300" b="1">
                <a:solidFill>
                  <a:srgbClr val="E6C46A"/>
                </a:solidFill>
              </a:defRPr>
            </a:lvl4pPr>
            <a:lvl5pPr>
              <a:defRPr sz="3300" b="1">
                <a:solidFill>
                  <a:srgbClr val="E6C46A"/>
                </a:solidFill>
              </a:defRPr>
            </a:lvl5pPr>
            <a:lvl6pPr>
              <a:defRPr sz="3300" b="1">
                <a:solidFill>
                  <a:srgbClr val="E6C46A"/>
                </a:solidFill>
              </a:defRPr>
            </a:lvl6pPr>
            <a:lvl7pPr>
              <a:defRPr sz="3300" b="1">
                <a:solidFill>
                  <a:srgbClr val="E6C46A"/>
                </a:solidFill>
              </a:defRPr>
            </a:lvl7pPr>
            <a:lvl8pPr>
              <a:defRPr sz="3300" b="1">
                <a:solidFill>
                  <a:srgbClr val="E6C46A"/>
                </a:solidFill>
              </a:defRPr>
            </a:lvl8pPr>
            <a:lvl9pPr>
              <a:defRPr sz="3300" b="1">
                <a:solidFill>
                  <a:srgbClr val="E6C46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6C46A"/>
                </a:solidFill>
              </a:defRPr>
            </a:pPr>
            <a:r>
              <a:rPr sz="3300" b="1">
                <a:solidFill>
                  <a:srgbClr val="E6C46A"/>
                </a:solidFill>
              </a:rPr>
              <a:t>Resultado esperado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881A4-BD94-4F3C-BC37-3740FB6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" y="1671638"/>
            <a:ext cx="1052512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5F7"/>
                </a:solidFill>
              </a:defRPr>
            </a:defPPr>
            <a:lvl1pPr>
              <a:defRPr sz="2250" b="0">
                <a:solidFill>
                  <a:srgbClr val="F3F5F7"/>
                </a:solidFill>
              </a:defRPr>
            </a:lvl1pPr>
            <a:lvl2pPr>
              <a:defRPr sz="2250" b="0">
                <a:solidFill>
                  <a:srgbClr val="F3F5F7"/>
                </a:solidFill>
              </a:defRPr>
            </a:lvl2pPr>
            <a:lvl3pPr>
              <a:defRPr sz="2250" b="0">
                <a:solidFill>
                  <a:srgbClr val="F3F5F7"/>
                </a:solidFill>
              </a:defRPr>
            </a:lvl3pPr>
            <a:lvl4pPr>
              <a:defRPr sz="2250" b="0">
                <a:solidFill>
                  <a:srgbClr val="F3F5F7"/>
                </a:solidFill>
              </a:defRPr>
            </a:lvl4pPr>
            <a:lvl5pPr>
              <a:defRPr sz="2250" b="0">
                <a:solidFill>
                  <a:srgbClr val="F3F5F7"/>
                </a:solidFill>
              </a:defRPr>
            </a:lvl5pPr>
            <a:lvl6pPr>
              <a:defRPr sz="2250" b="0">
                <a:solidFill>
                  <a:srgbClr val="F3F5F7"/>
                </a:solidFill>
              </a:defRPr>
            </a:lvl6pPr>
            <a:lvl7pPr>
              <a:defRPr sz="2250" b="0">
                <a:solidFill>
                  <a:srgbClr val="F3F5F7"/>
                </a:solidFill>
              </a:defRPr>
            </a:lvl7pPr>
            <a:lvl8pPr>
              <a:defRPr sz="2250" b="0">
                <a:solidFill>
                  <a:srgbClr val="F3F5F7"/>
                </a:solidFill>
              </a:defRPr>
            </a:lvl8pPr>
            <a:lvl9pPr>
              <a:defRPr sz="2250" b="0">
                <a:solidFill>
                  <a:srgbClr val="F3F5F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Jogadores encontram eventos e ferramentas para suas partidas.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Lojistas acompanham quantidades e anúncios com histórico e acesso restrito.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O Laravel fornece a estrutura MVC. As regras de negócio definem como o sistema atende cada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</a:defRPr>
            </a:pPr>
            <a:r>
              <a:rPr sz="2250" b="0">
                <a:solidFill>
                  <a:srgbClr val="F3F5F7"/>
                </a:solidFill>
              </a:rPr>
              <a:t>Próximas validações: uso em celular, desempenho e recuperação de backup.</a:t>
            </a:r>
          </a:p>
        </p:txBody>
      </p:sp>
    </p:spTree>
    <p:extLst>
      <p:ext uri="{BB962C8B-B14F-4D97-AF65-F5344CB8AC3E}">
        <p14:creationId xmlns:p14="http://schemas.microsoft.com/office/powerpoint/2010/main" val="1431124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2026-10-19T20:11:38.9540000Z</dcterms:created>
  <dcterms:modified xsi:type="dcterms:W3CDTF">2026-10-19T20:11:38.9540000Z</dcterms:modified>
</coreProperties>
</file>